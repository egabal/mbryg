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A7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78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894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405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33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811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68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65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4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131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82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6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7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328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C048611-791A-466A-A5C1-B0415D43D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Connected sticks shaping polygons background">
            <a:extLst>
              <a:ext uri="{FF2B5EF4-FFF2-40B4-BE49-F238E27FC236}">
                <a16:creationId xmlns:a16="http://schemas.microsoft.com/office/drawing/2014/main" id="{0E2C5B36-AD61-EA9E-873B-61EDC19A62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016" b="57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D0E884A-93C9-44E4-842F-5B6C251F8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476" y="723900"/>
            <a:ext cx="10610474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0EB31C-CD53-48C2-A9BE-DFB0681AE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9CA4C7D-C056-A80F-C1F6-402BF631C37B}"/>
              </a:ext>
            </a:extLst>
          </p:cNvPr>
          <p:cNvSpPr txBox="1"/>
          <p:nvPr/>
        </p:nvSpPr>
        <p:spPr>
          <a:xfrm>
            <a:off x="970377" y="715218"/>
            <a:ext cx="10270671" cy="15696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2"/>
                </a:solidFill>
              </a:rPr>
              <a:t>METBOX: </a:t>
            </a:r>
            <a:r>
              <a:rPr lang="en-US" sz="4800" dirty="0">
                <a:solidFill>
                  <a:schemeClr val="tx2"/>
                </a:solidFill>
              </a:rPr>
              <a:t>Webtool for Molecular Compounds (Metabolites)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3917FD-E0A0-4764-7D8B-BDF86A5EC993}"/>
              </a:ext>
            </a:extLst>
          </p:cNvPr>
          <p:cNvSpPr txBox="1"/>
          <p:nvPr/>
        </p:nvSpPr>
        <p:spPr>
          <a:xfrm>
            <a:off x="3422383" y="4049903"/>
            <a:ext cx="536665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Esraa Gabal &amp; Julie Fazekas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F3EA26-0A4B-A7CA-0ABC-61431EA508F6}"/>
              </a:ext>
            </a:extLst>
          </p:cNvPr>
          <p:cNvSpPr txBox="1"/>
          <p:nvPr/>
        </p:nvSpPr>
        <p:spPr>
          <a:xfrm>
            <a:off x="4530003" y="5076612"/>
            <a:ext cx="3151415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Purdue University, Indiana</a:t>
            </a:r>
          </a:p>
          <a:p>
            <a:pPr algn="ctr"/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Baylor University, Texas</a:t>
            </a:r>
          </a:p>
        </p:txBody>
      </p:sp>
    </p:spTree>
    <p:extLst>
      <p:ext uri="{BB962C8B-B14F-4D97-AF65-F5344CB8AC3E}">
        <p14:creationId xmlns:p14="http://schemas.microsoft.com/office/powerpoint/2010/main" val="2340077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02AF451-9805-A321-2C53-11313DB7B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3" y="21772"/>
            <a:ext cx="5712744" cy="5127171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3ACA86-5B21-3697-2FF8-E61B504D5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485" y="0"/>
            <a:ext cx="6280875" cy="6116002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8CAD62-1CE1-90E8-0F46-DC3846175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40" y="4338923"/>
            <a:ext cx="6280875" cy="234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216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BB3FC93-FAC9-1421-001D-3272AB9B2DC2}"/>
              </a:ext>
            </a:extLst>
          </p:cNvPr>
          <p:cNvSpPr/>
          <p:nvPr/>
        </p:nvSpPr>
        <p:spPr>
          <a:xfrm>
            <a:off x="544285" y="2846615"/>
            <a:ext cx="2362200" cy="751115"/>
          </a:xfrm>
          <a:prstGeom prst="roundRect">
            <a:avLst/>
          </a:prstGeom>
          <a:solidFill>
            <a:srgbClr val="0070C0"/>
          </a:solidFill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Extracting info from VMH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307C09A-2059-0078-7837-4690661D61EB}"/>
              </a:ext>
            </a:extLst>
          </p:cNvPr>
          <p:cNvSpPr/>
          <p:nvPr/>
        </p:nvSpPr>
        <p:spPr>
          <a:xfrm>
            <a:off x="4332515" y="4386945"/>
            <a:ext cx="2362200" cy="751115"/>
          </a:xfrm>
          <a:prstGeom prst="roundRect">
            <a:avLst/>
          </a:prstGeom>
          <a:solidFill>
            <a:srgbClr val="0070C0"/>
          </a:solidFill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KEGG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7B07975-B96B-E4B5-FFDF-49CA3F0B1E14}"/>
              </a:ext>
            </a:extLst>
          </p:cNvPr>
          <p:cNvSpPr/>
          <p:nvPr/>
        </p:nvSpPr>
        <p:spPr>
          <a:xfrm>
            <a:off x="4332515" y="1055913"/>
            <a:ext cx="2362200" cy="751115"/>
          </a:xfrm>
          <a:prstGeom prst="roundRect">
            <a:avLst/>
          </a:prstGeom>
          <a:solidFill>
            <a:srgbClr val="0070C0"/>
          </a:solidFill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SMILE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90C36A8-F5C6-011C-E28B-87DF482CCBA8}"/>
              </a:ext>
            </a:extLst>
          </p:cNvPr>
          <p:cNvSpPr/>
          <p:nvPr/>
        </p:nvSpPr>
        <p:spPr>
          <a:xfrm>
            <a:off x="8360228" y="3053441"/>
            <a:ext cx="2362200" cy="751115"/>
          </a:xfrm>
          <a:prstGeom prst="roundRect">
            <a:avLst/>
          </a:prstGeom>
          <a:solidFill>
            <a:srgbClr val="0070C0"/>
          </a:solidFill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METBOX</a:t>
            </a:r>
          </a:p>
        </p:txBody>
      </p:sp>
      <p:sp>
        <p:nvSpPr>
          <p:cNvPr id="12" name="Bent Arrow 11">
            <a:extLst>
              <a:ext uri="{FF2B5EF4-FFF2-40B4-BE49-F238E27FC236}">
                <a16:creationId xmlns:a16="http://schemas.microsoft.com/office/drawing/2014/main" id="{0BF5D5A6-D3A7-96DA-0B33-13615299A955}"/>
              </a:ext>
            </a:extLst>
          </p:cNvPr>
          <p:cNvSpPr/>
          <p:nvPr/>
        </p:nvSpPr>
        <p:spPr>
          <a:xfrm>
            <a:off x="1725385" y="1240970"/>
            <a:ext cx="2362200" cy="1132115"/>
          </a:xfrm>
          <a:prstGeom prst="bentArrow">
            <a:avLst>
              <a:gd name="adj1" fmla="val 8091"/>
              <a:gd name="adj2" fmla="val 12762"/>
              <a:gd name="adj3" fmla="val 25000"/>
              <a:gd name="adj4" fmla="val 43750"/>
            </a:avLst>
          </a:prstGeom>
          <a:solidFill>
            <a:schemeClr val="tx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Bent Arrow 12">
            <a:extLst>
              <a:ext uri="{FF2B5EF4-FFF2-40B4-BE49-F238E27FC236}">
                <a16:creationId xmlns:a16="http://schemas.microsoft.com/office/drawing/2014/main" id="{544B0AF4-8E59-2A58-658D-E4A46953A61F}"/>
              </a:ext>
            </a:extLst>
          </p:cNvPr>
          <p:cNvSpPr/>
          <p:nvPr/>
        </p:nvSpPr>
        <p:spPr>
          <a:xfrm flipV="1">
            <a:off x="1725385" y="4016830"/>
            <a:ext cx="2362200" cy="936169"/>
          </a:xfrm>
          <a:prstGeom prst="bentArrow">
            <a:avLst>
              <a:gd name="adj1" fmla="val 8650"/>
              <a:gd name="adj2" fmla="val 12762"/>
              <a:gd name="adj3" fmla="val 25000"/>
              <a:gd name="adj4" fmla="val 43750"/>
            </a:avLst>
          </a:prstGeom>
          <a:solidFill>
            <a:schemeClr val="tx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E358093-F1B4-3924-27C4-925E97843CB4}"/>
              </a:ext>
            </a:extLst>
          </p:cNvPr>
          <p:cNvSpPr txBox="1"/>
          <p:nvPr/>
        </p:nvSpPr>
        <p:spPr>
          <a:xfrm>
            <a:off x="4468329" y="1807028"/>
            <a:ext cx="21194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Smile2png, </a:t>
            </a:r>
            <a:r>
              <a:rPr lang="en-US" b="1" dirty="0"/>
              <a:t>GitHub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A0DFC32-D82C-7C0C-1C28-D29D056E2C81}"/>
              </a:ext>
            </a:extLst>
          </p:cNvPr>
          <p:cNvSpPr txBox="1"/>
          <p:nvPr/>
        </p:nvSpPr>
        <p:spPr>
          <a:xfrm>
            <a:off x="4511872" y="5170716"/>
            <a:ext cx="2242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KEGG-pull, </a:t>
            </a:r>
            <a:r>
              <a:rPr lang="en-US" b="1" dirty="0"/>
              <a:t>GitHub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86EEAAB-E685-4226-A195-D2D17762D677}"/>
              </a:ext>
            </a:extLst>
          </p:cNvPr>
          <p:cNvSpPr txBox="1"/>
          <p:nvPr/>
        </p:nvSpPr>
        <p:spPr>
          <a:xfrm>
            <a:off x="4327078" y="5540048"/>
            <a:ext cx="2612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KEGGRESTpy</a:t>
            </a:r>
            <a:r>
              <a:rPr lang="en-US" dirty="0"/>
              <a:t>, </a:t>
            </a:r>
            <a:r>
              <a:rPr lang="en-US" b="1" dirty="0"/>
              <a:t>GitHub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240D635A-E1CB-88ED-7CD8-AF4B620E3D50}"/>
              </a:ext>
            </a:extLst>
          </p:cNvPr>
          <p:cNvSpPr/>
          <p:nvPr/>
        </p:nvSpPr>
        <p:spPr>
          <a:xfrm>
            <a:off x="3178604" y="3140532"/>
            <a:ext cx="4909458" cy="206826"/>
          </a:xfrm>
          <a:prstGeom prst="rightArrow">
            <a:avLst/>
          </a:prstGeom>
          <a:solidFill>
            <a:schemeClr val="tx1"/>
          </a:solidFill>
          <a:ln w="38100" cap="flat" cmpd="sng" algn="ctr">
            <a:solidFill>
              <a:schemeClr val="tx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Bent-Up Arrow 19">
            <a:extLst>
              <a:ext uri="{FF2B5EF4-FFF2-40B4-BE49-F238E27FC236}">
                <a16:creationId xmlns:a16="http://schemas.microsoft.com/office/drawing/2014/main" id="{1F123C6B-7FBE-B8AE-3E66-83A456066B0F}"/>
              </a:ext>
            </a:extLst>
          </p:cNvPr>
          <p:cNvSpPr/>
          <p:nvPr/>
        </p:nvSpPr>
        <p:spPr>
          <a:xfrm rot="10800000" flipH="1">
            <a:off x="6830529" y="1431469"/>
            <a:ext cx="3031928" cy="1496787"/>
          </a:xfrm>
          <a:prstGeom prst="bentUpArrow">
            <a:avLst>
              <a:gd name="adj1" fmla="val 7303"/>
              <a:gd name="adj2" fmla="val 11242"/>
              <a:gd name="adj3" fmla="val 25849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-Up Arrow 21">
            <a:extLst>
              <a:ext uri="{FF2B5EF4-FFF2-40B4-BE49-F238E27FC236}">
                <a16:creationId xmlns:a16="http://schemas.microsoft.com/office/drawing/2014/main" id="{66D785B9-F098-BD42-3179-97BB1278B852}"/>
              </a:ext>
            </a:extLst>
          </p:cNvPr>
          <p:cNvSpPr/>
          <p:nvPr/>
        </p:nvSpPr>
        <p:spPr>
          <a:xfrm>
            <a:off x="6830529" y="4038602"/>
            <a:ext cx="3151671" cy="936169"/>
          </a:xfrm>
          <a:prstGeom prst="leftUpArrow">
            <a:avLst>
              <a:gd name="adj1" fmla="val 13373"/>
              <a:gd name="adj2" fmla="val 20349"/>
              <a:gd name="adj3" fmla="val 28488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CE3175A-9667-6CDF-0BD7-CFCFDA35D6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313" t="50708" r="24650" b="22775"/>
          <a:stretch>
            <a:fillRect/>
          </a:stretch>
        </p:blipFill>
        <p:spPr>
          <a:xfrm>
            <a:off x="102943" y="773791"/>
            <a:ext cx="3761357" cy="423637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B89E010-E4D6-CDAC-2064-9E2C71030A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8417"/>
          <a:stretch>
            <a:fillRect/>
          </a:stretch>
        </p:blipFill>
        <p:spPr>
          <a:xfrm>
            <a:off x="9829799" y="1055912"/>
            <a:ext cx="2030384" cy="112044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02CC4A-B0F0-5B8C-FB42-7EC1CF36AB7D}"/>
              </a:ext>
            </a:extLst>
          </p:cNvPr>
          <p:cNvSpPr txBox="1"/>
          <p:nvPr/>
        </p:nvSpPr>
        <p:spPr>
          <a:xfrm>
            <a:off x="1578429" y="5056809"/>
            <a:ext cx="1508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C00000"/>
                </a:solidFill>
              </a:rPr>
              <a:t>Cpd</a:t>
            </a:r>
            <a:r>
              <a:rPr lang="en-US" b="1" dirty="0">
                <a:solidFill>
                  <a:srgbClr val="C00000"/>
                </a:solidFill>
              </a:rPr>
              <a:t>: C00004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F29E65A-5E56-9AD5-BBE2-CC12145A5EAF}"/>
              </a:ext>
            </a:extLst>
          </p:cNvPr>
          <p:cNvSpPr txBox="1"/>
          <p:nvPr/>
        </p:nvSpPr>
        <p:spPr>
          <a:xfrm>
            <a:off x="1263855" y="5397363"/>
            <a:ext cx="2137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Biological Pathway</a:t>
            </a:r>
          </a:p>
        </p:txBody>
      </p:sp>
    </p:spTree>
    <p:extLst>
      <p:ext uri="{BB962C8B-B14F-4D97-AF65-F5344CB8AC3E}">
        <p14:creationId xmlns:p14="http://schemas.microsoft.com/office/powerpoint/2010/main" val="297916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 animBg="1"/>
      <p:bldP spid="13" grpId="0" animBg="1"/>
      <p:bldP spid="14" grpId="0"/>
      <p:bldP spid="16" grpId="0"/>
      <p:bldP spid="17" grpId="0"/>
      <p:bldP spid="19" grpId="0" animBg="1"/>
      <p:bldP spid="20" grpId="0" animBg="1"/>
      <p:bldP spid="22" grpId="0" animBg="1"/>
      <p:bldP spid="25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C048611-791A-466A-A5C1-B0415D43D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0965B167-6CD6-E213-28C1-EEAF5DEB11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81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0E884A-93C9-44E4-842F-5B6C251F8C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476" y="723900"/>
            <a:ext cx="10610474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10EB31C-CD53-48C2-A9BE-DFB0681AE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blurRad="50800" dist="25400" dir="2700000" sx="99000" sy="99000" algn="t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609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34510-F309-AE9B-CF52-AB364304EC21}"/>
              </a:ext>
            </a:extLst>
          </p:cNvPr>
          <p:cNvSpPr txBox="1"/>
          <p:nvPr/>
        </p:nvSpPr>
        <p:spPr>
          <a:xfrm>
            <a:off x="704088" y="914400"/>
            <a:ext cx="6001512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spcBef>
                <a:spcPct val="0"/>
              </a:spcBef>
              <a:spcAft>
                <a:spcPts val="600"/>
              </a:spcAft>
            </a:pPr>
            <a:r>
              <a:rPr lang="en-US" sz="4000" b="1" cap="all" spc="30">
                <a:latin typeface="+mj-lt"/>
                <a:ea typeface="+mj-ea"/>
                <a:cs typeface="+mj-cs"/>
              </a:rPr>
              <a:t>Future Directions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8B9B6B8-4F39-1FAB-63AA-4A4874ADF986}"/>
              </a:ext>
            </a:extLst>
          </p:cNvPr>
          <p:cNvSpPr txBox="1"/>
          <p:nvPr/>
        </p:nvSpPr>
        <p:spPr>
          <a:xfrm>
            <a:off x="704088" y="2231136"/>
            <a:ext cx="6570472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Include more microbial species 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Adding more metabolite information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Formatting the website to have search engine</a:t>
            </a:r>
          </a:p>
          <a:p>
            <a:pPr marL="285750" indent="-228600" defTabSz="9144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400" dirty="0"/>
              <a:t>Any further suggestions are welcome</a:t>
            </a:r>
          </a:p>
        </p:txBody>
      </p:sp>
      <p:pic>
        <p:nvPicPr>
          <p:cNvPr id="7" name="Picture 6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69B89914-82FE-7352-1D41-2BC277E7E8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31" r="41903" b="77355"/>
          <a:stretch>
            <a:fillRect/>
          </a:stretch>
        </p:blipFill>
        <p:spPr>
          <a:xfrm>
            <a:off x="7274560" y="1832470"/>
            <a:ext cx="4202057" cy="432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43615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65</Words>
  <Application>Microsoft Macintosh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Univers Condensed</vt:lpstr>
      <vt:lpstr>ChronicleVTI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Abdelmonem Gabal</dc:creator>
  <cp:lastModifiedBy>Esraa Abdelmonem Gabal</cp:lastModifiedBy>
  <cp:revision>47</cp:revision>
  <dcterms:created xsi:type="dcterms:W3CDTF">2025-10-27T16:14:56Z</dcterms:created>
  <dcterms:modified xsi:type="dcterms:W3CDTF">2025-10-27T17:56:06Z</dcterms:modified>
</cp:coreProperties>
</file>